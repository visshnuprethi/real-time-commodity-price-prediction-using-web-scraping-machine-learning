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8" r:id="rId2"/>
    <p:sldMasterId id="2147483702" r:id="rId3"/>
  </p:sldMasterIdLst>
  <p:sldIdLst>
    <p:sldId id="259" r:id="rId4"/>
    <p:sldId id="257" r:id="rId5"/>
    <p:sldId id="261" r:id="rId6"/>
    <p:sldId id="260" r:id="rId7"/>
    <p:sldId id="262" r:id="rId8"/>
    <p:sldId id="285" r:id="rId9"/>
    <p:sldId id="264" r:id="rId10"/>
    <p:sldId id="290" r:id="rId11"/>
    <p:sldId id="266" r:id="rId12"/>
    <p:sldId id="279" r:id="rId13"/>
    <p:sldId id="281" r:id="rId14"/>
    <p:sldId id="280" r:id="rId15"/>
    <p:sldId id="289" r:id="rId16"/>
    <p:sldId id="278" r:id="rId17"/>
    <p:sldId id="283" r:id="rId18"/>
    <p:sldId id="284" r:id="rId19"/>
    <p:sldId id="287" r:id="rId20"/>
    <p:sldId id="286" r:id="rId21"/>
    <p:sldId id="272" r:id="rId22"/>
    <p:sldId id="274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F3A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7944-63F0-4B2F-AD45-448C6DF7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C0D-26BC-4E19-94BF-7F158080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3BDE4-1CD0-AC4C-A2A9-C858427B0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265051-1E5A-D844-BA21-38331551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690117"/>
            <a:ext cx="10989920" cy="448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914F6FF-E574-0340-AD3E-E6747297E03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94519" y="1262642"/>
            <a:ext cx="11002962" cy="35387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spc="600">
                <a:solidFill>
                  <a:srgbClr val="898989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51583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219AD9-34B1-4C27-8648-E7D7C69C0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365" y="3013675"/>
            <a:ext cx="10787270" cy="830649"/>
          </a:xfrm>
        </p:spPr>
        <p:txBody>
          <a:bodyPr anchor="ctr"/>
          <a:lstStyle>
            <a:lvl1pPr algn="ctr">
              <a:defRPr sz="60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70275" y="3890624"/>
            <a:ext cx="5251450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578423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242487" y="6833286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417479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230B2C-7250-4568-96CF-7E5A34B3CA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048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Image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625512"/>
            <a:ext cx="4018722" cy="4636392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6917B65-8F50-454E-AF7E-D53FE2DE8F0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9878"/>
            <a:ext cx="7406905" cy="6866810"/>
          </a:xfrm>
          <a:custGeom>
            <a:avLst/>
            <a:gdLst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2000 w 5251939"/>
              <a:gd name="connsiteY12" fmla="*/ 4878432 h 4878432"/>
              <a:gd name="connsiteX13" fmla="*/ 4570834 w 5251939"/>
              <a:gd name="connsiteY13" fmla="*/ 4878432 h 4878432"/>
              <a:gd name="connsiteX14" fmla="*/ 4570834 w 5251939"/>
              <a:gd name="connsiteY14" fmla="*/ 3563909 h 4878432"/>
              <a:gd name="connsiteX15" fmla="*/ 3890895 w 5251939"/>
              <a:gd name="connsiteY15" fmla="*/ 3563909 h 4878432"/>
              <a:gd name="connsiteX16" fmla="*/ 3890895 w 5251939"/>
              <a:gd name="connsiteY16" fmla="*/ 4878432 h 4878432"/>
              <a:gd name="connsiteX17" fmla="*/ 3297114 w 5251939"/>
              <a:gd name="connsiteY17" fmla="*/ 4878432 h 4878432"/>
              <a:gd name="connsiteX18" fmla="*/ 3297114 w 5251939"/>
              <a:gd name="connsiteY18" fmla="*/ 3911406 h 4878432"/>
              <a:gd name="connsiteX19" fmla="*/ 2617175 w 5251939"/>
              <a:gd name="connsiteY19" fmla="*/ 3911406 h 4878432"/>
              <a:gd name="connsiteX20" fmla="*/ 2617175 w 5251939"/>
              <a:gd name="connsiteY20" fmla="*/ 4324451 h 4878432"/>
              <a:gd name="connsiteX21" fmla="*/ 1968893 w 5251939"/>
              <a:gd name="connsiteY21" fmla="*/ 4324451 h 4878432"/>
              <a:gd name="connsiteX22" fmla="*/ 1968893 w 5251939"/>
              <a:gd name="connsiteY22" fmla="*/ 4878432 h 4878432"/>
              <a:gd name="connsiteX23" fmla="*/ 1312985 w 5251939"/>
              <a:gd name="connsiteY23" fmla="*/ 4878432 h 4878432"/>
              <a:gd name="connsiteX24" fmla="*/ 1312985 w 5251939"/>
              <a:gd name="connsiteY24" fmla="*/ 4324451 h 4878432"/>
              <a:gd name="connsiteX25" fmla="*/ 642230 w 5251939"/>
              <a:gd name="connsiteY25" fmla="*/ 4324451 h 4878432"/>
              <a:gd name="connsiteX26" fmla="*/ 642230 w 5251939"/>
              <a:gd name="connsiteY26" fmla="*/ 3624890 h 4878432"/>
              <a:gd name="connsiteX27" fmla="*/ 0 w 5251939"/>
              <a:gd name="connsiteY27" fmla="*/ 3624890 h 4878432"/>
              <a:gd name="connsiteX28" fmla="*/ 0 w 5251939"/>
              <a:gd name="connsiteY28" fmla="*/ 375409 h 4878432"/>
              <a:gd name="connsiteX29" fmla="*/ 633046 w 5251939"/>
              <a:gd name="connsiteY29" fmla="*/ 375409 h 4878432"/>
              <a:gd name="connsiteX30" fmla="*/ 633046 w 5251939"/>
              <a:gd name="connsiteY30" fmla="*/ 1379096 h 4878432"/>
              <a:gd name="connsiteX31" fmla="*/ 1312985 w 5251939"/>
              <a:gd name="connsiteY31" fmla="*/ 1379096 h 4878432"/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2000 w 5251939"/>
              <a:gd name="connsiteY12" fmla="*/ 4878432 h 4878432"/>
              <a:gd name="connsiteX13" fmla="*/ 4570834 w 5251939"/>
              <a:gd name="connsiteY13" fmla="*/ 3563909 h 4878432"/>
              <a:gd name="connsiteX14" fmla="*/ 3890895 w 5251939"/>
              <a:gd name="connsiteY14" fmla="*/ 3563909 h 4878432"/>
              <a:gd name="connsiteX15" fmla="*/ 3890895 w 5251939"/>
              <a:gd name="connsiteY15" fmla="*/ 4878432 h 4878432"/>
              <a:gd name="connsiteX16" fmla="*/ 3297114 w 5251939"/>
              <a:gd name="connsiteY16" fmla="*/ 4878432 h 4878432"/>
              <a:gd name="connsiteX17" fmla="*/ 3297114 w 5251939"/>
              <a:gd name="connsiteY17" fmla="*/ 3911406 h 4878432"/>
              <a:gd name="connsiteX18" fmla="*/ 2617175 w 5251939"/>
              <a:gd name="connsiteY18" fmla="*/ 3911406 h 4878432"/>
              <a:gd name="connsiteX19" fmla="*/ 2617175 w 5251939"/>
              <a:gd name="connsiteY19" fmla="*/ 4324451 h 4878432"/>
              <a:gd name="connsiteX20" fmla="*/ 1968893 w 5251939"/>
              <a:gd name="connsiteY20" fmla="*/ 4324451 h 4878432"/>
              <a:gd name="connsiteX21" fmla="*/ 1968893 w 5251939"/>
              <a:gd name="connsiteY21" fmla="*/ 4878432 h 4878432"/>
              <a:gd name="connsiteX22" fmla="*/ 1312985 w 5251939"/>
              <a:gd name="connsiteY22" fmla="*/ 4878432 h 4878432"/>
              <a:gd name="connsiteX23" fmla="*/ 1312985 w 5251939"/>
              <a:gd name="connsiteY23" fmla="*/ 4324451 h 4878432"/>
              <a:gd name="connsiteX24" fmla="*/ 642230 w 5251939"/>
              <a:gd name="connsiteY24" fmla="*/ 4324451 h 4878432"/>
              <a:gd name="connsiteX25" fmla="*/ 642230 w 5251939"/>
              <a:gd name="connsiteY25" fmla="*/ 3624890 h 4878432"/>
              <a:gd name="connsiteX26" fmla="*/ 0 w 5251939"/>
              <a:gd name="connsiteY26" fmla="*/ 3624890 h 4878432"/>
              <a:gd name="connsiteX27" fmla="*/ 0 w 5251939"/>
              <a:gd name="connsiteY27" fmla="*/ 375409 h 4878432"/>
              <a:gd name="connsiteX28" fmla="*/ 633046 w 5251939"/>
              <a:gd name="connsiteY28" fmla="*/ 375409 h 4878432"/>
              <a:gd name="connsiteX29" fmla="*/ 633046 w 5251939"/>
              <a:gd name="connsiteY29" fmla="*/ 1379096 h 4878432"/>
              <a:gd name="connsiteX30" fmla="*/ 1312985 w 5251939"/>
              <a:gd name="connsiteY30" fmla="*/ 1379096 h 4878432"/>
              <a:gd name="connsiteX31" fmla="*/ 1312985 w 5251939"/>
              <a:gd name="connsiteY31" fmla="*/ 0 h 4878432"/>
              <a:gd name="connsiteX0" fmla="*/ 1312985 w 5251939"/>
              <a:gd name="connsiteY0" fmla="*/ 0 h 4878432"/>
              <a:gd name="connsiteX1" fmla="*/ 1975340 w 5251939"/>
              <a:gd name="connsiteY1" fmla="*/ 0 h 4878432"/>
              <a:gd name="connsiteX2" fmla="*/ 1975340 w 5251939"/>
              <a:gd name="connsiteY2" fmla="*/ 982231 h 4878432"/>
              <a:gd name="connsiteX3" fmla="*/ 2648832 w 5251939"/>
              <a:gd name="connsiteY3" fmla="*/ 982231 h 4878432"/>
              <a:gd name="connsiteX4" fmla="*/ 2648832 w 5251939"/>
              <a:gd name="connsiteY4" fmla="*/ 1148083 h 4878432"/>
              <a:gd name="connsiteX5" fmla="*/ 3328771 w 5251939"/>
              <a:gd name="connsiteY5" fmla="*/ 1148083 h 4878432"/>
              <a:gd name="connsiteX6" fmla="*/ 3328771 w 5251939"/>
              <a:gd name="connsiteY6" fmla="*/ 0 h 4878432"/>
              <a:gd name="connsiteX7" fmla="*/ 4572000 w 5251939"/>
              <a:gd name="connsiteY7" fmla="*/ 0 h 4878432"/>
              <a:gd name="connsiteX8" fmla="*/ 4572000 w 5251939"/>
              <a:gd name="connsiteY8" fmla="*/ 1000460 h 4878432"/>
              <a:gd name="connsiteX9" fmla="*/ 5251939 w 5251939"/>
              <a:gd name="connsiteY9" fmla="*/ 1000460 h 4878432"/>
              <a:gd name="connsiteX10" fmla="*/ 5251939 w 5251939"/>
              <a:gd name="connsiteY10" fmla="*/ 4279967 h 4878432"/>
              <a:gd name="connsiteX11" fmla="*/ 4572000 w 5251939"/>
              <a:gd name="connsiteY11" fmla="*/ 4279967 h 4878432"/>
              <a:gd name="connsiteX12" fmla="*/ 4570834 w 5251939"/>
              <a:gd name="connsiteY12" fmla="*/ 3563909 h 4878432"/>
              <a:gd name="connsiteX13" fmla="*/ 3890895 w 5251939"/>
              <a:gd name="connsiteY13" fmla="*/ 3563909 h 4878432"/>
              <a:gd name="connsiteX14" fmla="*/ 3890895 w 5251939"/>
              <a:gd name="connsiteY14" fmla="*/ 4878432 h 4878432"/>
              <a:gd name="connsiteX15" fmla="*/ 3297114 w 5251939"/>
              <a:gd name="connsiteY15" fmla="*/ 4878432 h 4878432"/>
              <a:gd name="connsiteX16" fmla="*/ 3297114 w 5251939"/>
              <a:gd name="connsiteY16" fmla="*/ 3911406 h 4878432"/>
              <a:gd name="connsiteX17" fmla="*/ 2617175 w 5251939"/>
              <a:gd name="connsiteY17" fmla="*/ 3911406 h 4878432"/>
              <a:gd name="connsiteX18" fmla="*/ 2617175 w 5251939"/>
              <a:gd name="connsiteY18" fmla="*/ 4324451 h 4878432"/>
              <a:gd name="connsiteX19" fmla="*/ 1968893 w 5251939"/>
              <a:gd name="connsiteY19" fmla="*/ 4324451 h 4878432"/>
              <a:gd name="connsiteX20" fmla="*/ 1968893 w 5251939"/>
              <a:gd name="connsiteY20" fmla="*/ 4878432 h 4878432"/>
              <a:gd name="connsiteX21" fmla="*/ 1312985 w 5251939"/>
              <a:gd name="connsiteY21" fmla="*/ 4878432 h 4878432"/>
              <a:gd name="connsiteX22" fmla="*/ 1312985 w 5251939"/>
              <a:gd name="connsiteY22" fmla="*/ 4324451 h 4878432"/>
              <a:gd name="connsiteX23" fmla="*/ 642230 w 5251939"/>
              <a:gd name="connsiteY23" fmla="*/ 4324451 h 4878432"/>
              <a:gd name="connsiteX24" fmla="*/ 642230 w 5251939"/>
              <a:gd name="connsiteY24" fmla="*/ 3624890 h 4878432"/>
              <a:gd name="connsiteX25" fmla="*/ 0 w 5251939"/>
              <a:gd name="connsiteY25" fmla="*/ 3624890 h 4878432"/>
              <a:gd name="connsiteX26" fmla="*/ 0 w 5251939"/>
              <a:gd name="connsiteY26" fmla="*/ 375409 h 4878432"/>
              <a:gd name="connsiteX27" fmla="*/ 633046 w 5251939"/>
              <a:gd name="connsiteY27" fmla="*/ 375409 h 4878432"/>
              <a:gd name="connsiteX28" fmla="*/ 633046 w 5251939"/>
              <a:gd name="connsiteY28" fmla="*/ 1379096 h 4878432"/>
              <a:gd name="connsiteX29" fmla="*/ 1312985 w 5251939"/>
              <a:gd name="connsiteY29" fmla="*/ 1379096 h 4878432"/>
              <a:gd name="connsiteX30" fmla="*/ 1312985 w 5251939"/>
              <a:gd name="connsiteY30" fmla="*/ 0 h 48784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</a:cxnLst>
            <a:rect l="l" t="t" r="r" b="b"/>
            <a:pathLst>
              <a:path w="5251939" h="4878432">
                <a:moveTo>
                  <a:pt x="1312985" y="0"/>
                </a:moveTo>
                <a:lnTo>
                  <a:pt x="1975340" y="0"/>
                </a:lnTo>
                <a:lnTo>
                  <a:pt x="1975340" y="982231"/>
                </a:lnTo>
                <a:lnTo>
                  <a:pt x="2648832" y="982231"/>
                </a:lnTo>
                <a:lnTo>
                  <a:pt x="2648832" y="1148083"/>
                </a:lnTo>
                <a:lnTo>
                  <a:pt x="3328771" y="1148083"/>
                </a:lnTo>
                <a:lnTo>
                  <a:pt x="3328771" y="0"/>
                </a:lnTo>
                <a:lnTo>
                  <a:pt x="4572000" y="0"/>
                </a:lnTo>
                <a:lnTo>
                  <a:pt x="4572000" y="1000460"/>
                </a:lnTo>
                <a:lnTo>
                  <a:pt x="5251939" y="1000460"/>
                </a:lnTo>
                <a:lnTo>
                  <a:pt x="5251939" y="4279967"/>
                </a:lnTo>
                <a:lnTo>
                  <a:pt x="4572000" y="4279967"/>
                </a:lnTo>
                <a:cubicBezTo>
                  <a:pt x="4571611" y="4041281"/>
                  <a:pt x="4571223" y="3802595"/>
                  <a:pt x="4570834" y="3563909"/>
                </a:cubicBezTo>
                <a:lnTo>
                  <a:pt x="3890895" y="3563909"/>
                </a:lnTo>
                <a:lnTo>
                  <a:pt x="3890895" y="4878432"/>
                </a:lnTo>
                <a:lnTo>
                  <a:pt x="3297114" y="4878432"/>
                </a:lnTo>
                <a:lnTo>
                  <a:pt x="3297114" y="3911406"/>
                </a:lnTo>
                <a:lnTo>
                  <a:pt x="2617175" y="3911406"/>
                </a:lnTo>
                <a:lnTo>
                  <a:pt x="2617175" y="4324451"/>
                </a:lnTo>
                <a:lnTo>
                  <a:pt x="1968893" y="4324451"/>
                </a:lnTo>
                <a:lnTo>
                  <a:pt x="1968893" y="4878432"/>
                </a:lnTo>
                <a:lnTo>
                  <a:pt x="1312985" y="4878432"/>
                </a:lnTo>
                <a:lnTo>
                  <a:pt x="1312985" y="4324451"/>
                </a:lnTo>
                <a:lnTo>
                  <a:pt x="642230" y="4324451"/>
                </a:lnTo>
                <a:lnTo>
                  <a:pt x="642230" y="3624890"/>
                </a:lnTo>
                <a:lnTo>
                  <a:pt x="0" y="3624890"/>
                </a:lnTo>
                <a:lnTo>
                  <a:pt x="0" y="375409"/>
                </a:lnTo>
                <a:lnTo>
                  <a:pt x="633046" y="375409"/>
                </a:lnTo>
                <a:lnTo>
                  <a:pt x="633046" y="1379096"/>
                </a:lnTo>
                <a:lnTo>
                  <a:pt x="1312985" y="1379096"/>
                </a:lnTo>
                <a:lnTo>
                  <a:pt x="1312985" y="0"/>
                </a:lnTo>
                <a:close/>
              </a:path>
            </a:pathLst>
          </a:custGeo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75065C5E-8027-4266-B6BE-BA117C6F7AC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19116" y="1003687"/>
            <a:ext cx="3991884" cy="40767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20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114516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8F64841-5495-4B23-A74E-409C28CB7AC1}"/>
              </a:ext>
            </a:extLst>
          </p:cNvPr>
          <p:cNvSpPr/>
          <p:nvPr userDrawn="1"/>
        </p:nvSpPr>
        <p:spPr>
          <a:xfrm>
            <a:off x="7415213" y="0"/>
            <a:ext cx="4776787" cy="684693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anchor="ctr">
            <a:noAutofit/>
          </a:bodyPr>
          <a:lstStyle>
            <a:lvl1pPr algn="l">
              <a:defRPr sz="32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625512"/>
            <a:ext cx="4018722" cy="4636392"/>
          </a:xfrm>
        </p:spPr>
        <p:txBody>
          <a:bodyPr lIns="0" r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7819116" y="1003687"/>
            <a:ext cx="3991884" cy="407670"/>
          </a:xfrm>
        </p:spPr>
        <p:txBody>
          <a:bodyPr lIns="0" rIns="0" anchor="ctr">
            <a:noAutofit/>
          </a:bodyPr>
          <a:lstStyle>
            <a:lvl1pPr marL="0" indent="0">
              <a:buNone/>
              <a:defRPr sz="2000" spc="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83349C3-B089-45CF-9643-0D25E709663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0" y="0"/>
            <a:ext cx="7415213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7D247BC-E419-4355-8738-B9CE5CA19B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Shape 61">
            <a:extLst>
              <a:ext uri="{FF2B5EF4-FFF2-40B4-BE49-F238E27FC236}">
                <a16:creationId xmlns:a16="http://schemas.microsoft.com/office/drawing/2014/main" id="{649B49FF-0FAA-4E6C-820C-B1F434911FDC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6153592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7754" y="365125"/>
            <a:ext cx="6043246" cy="573989"/>
          </a:xfrm>
        </p:spPr>
        <p:txBody>
          <a:bodyPr anchor="ctr">
            <a:noAutofit/>
          </a:bodyPr>
          <a:lstStyle>
            <a:lvl1pPr algn="l">
              <a:defRPr sz="3600" spc="300"/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67754" y="1625512"/>
            <a:ext cx="6043246" cy="463639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600"/>
            </a:lvl1pPr>
            <a:lvl2pPr>
              <a:lnSpc>
                <a:spcPct val="150000"/>
              </a:lnSpc>
              <a:defRPr sz="1400"/>
            </a:lvl2pPr>
            <a:lvl3pPr>
              <a:lnSpc>
                <a:spcPct val="150000"/>
              </a:lnSpc>
              <a:defRPr sz="1400"/>
            </a:lvl3pPr>
            <a:lvl4pPr>
              <a:lnSpc>
                <a:spcPct val="150000"/>
              </a:lnSpc>
              <a:defRPr sz="1200"/>
            </a:lvl4pPr>
            <a:lvl5pPr>
              <a:lnSpc>
                <a:spcPct val="150000"/>
              </a:lnSpc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CAAB964-0A56-4842-AA82-7610F726CD1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767754" y="1003687"/>
            <a:ext cx="6043246" cy="365125"/>
          </a:xfrm>
        </p:spPr>
        <p:txBody>
          <a:bodyPr anchor="ctr">
            <a:noAutofit/>
          </a:bodyPr>
          <a:lstStyle>
            <a:lvl1pPr marL="0" indent="0">
              <a:buNone/>
              <a:defRPr sz="20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>
            <a:innerShdw blurRad="254000" dist="127000">
              <a:prstClr val="black">
                <a:alpha val="50000"/>
              </a:prstClr>
            </a:innerShdw>
          </a:effectLst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595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40849B93-E2CE-4654-9EC7-7DFA141A5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904689" y="5038489"/>
            <a:ext cx="5933872" cy="36512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2400" spc="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E94348-3BFC-4B39-9C3B-628E777B98F4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1517515 w 6107906"/>
              <a:gd name="connsiteY0" fmla="*/ 0 h 6858000"/>
              <a:gd name="connsiteX1" fmla="*/ 6107906 w 6107906"/>
              <a:gd name="connsiteY1" fmla="*/ 0 h 6858000"/>
              <a:gd name="connsiteX2" fmla="*/ 4593309 w 6107906"/>
              <a:gd name="connsiteY2" fmla="*/ 6848272 h 6858000"/>
              <a:gd name="connsiteX3" fmla="*/ 0 w 6107906"/>
              <a:gd name="connsiteY3" fmla="*/ 6858000 h 6858000"/>
              <a:gd name="connsiteX4" fmla="*/ 1517515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1517515" y="0"/>
                </a:moveTo>
                <a:lnTo>
                  <a:pt x="6107906" y="0"/>
                </a:lnTo>
                <a:lnTo>
                  <a:pt x="4593309" y="6848272"/>
                </a:lnTo>
                <a:lnTo>
                  <a:pt x="0" y="6858000"/>
                </a:lnTo>
                <a:lnTo>
                  <a:pt x="1517515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219AD9-34B1-4C27-8648-E7D7C69C07F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4689" y="1546699"/>
            <a:ext cx="5933872" cy="3491790"/>
          </a:xfrm>
        </p:spPr>
        <p:txBody>
          <a:bodyPr anchor="ctr"/>
          <a:lstStyle>
            <a:lvl1pPr algn="ctr">
              <a:defRPr sz="6000" b="1" spc="3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13291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AB66B20-A484-4A16-A015-2118F9AF2101}"/>
              </a:ext>
            </a:extLst>
          </p:cNvPr>
          <p:cNvSpPr/>
          <p:nvPr userDrawn="1"/>
        </p:nvSpPr>
        <p:spPr>
          <a:xfrm>
            <a:off x="0" y="0"/>
            <a:ext cx="6107906" cy="6858000"/>
          </a:xfrm>
          <a:custGeom>
            <a:avLst/>
            <a:gdLst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610790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  <a:gd name="connsiteX0" fmla="*/ 0 w 6107906"/>
              <a:gd name="connsiteY0" fmla="*/ 0 h 6858000"/>
              <a:gd name="connsiteX1" fmla="*/ 6107906 w 6107906"/>
              <a:gd name="connsiteY1" fmla="*/ 0 h 6858000"/>
              <a:gd name="connsiteX2" fmla="*/ 4233386 w 6107906"/>
              <a:gd name="connsiteY2" fmla="*/ 6858000 h 6858000"/>
              <a:gd name="connsiteX3" fmla="*/ 0 w 6107906"/>
              <a:gd name="connsiteY3" fmla="*/ 6858000 h 6858000"/>
              <a:gd name="connsiteX4" fmla="*/ 0 w 6107906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07906" h="6858000">
                <a:moveTo>
                  <a:pt x="0" y="0"/>
                </a:moveTo>
                <a:lnTo>
                  <a:pt x="6107906" y="0"/>
                </a:lnTo>
                <a:lnTo>
                  <a:pt x="4233386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209064"/>
            <a:ext cx="5251450" cy="365125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spc="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520779"/>
            <a:ext cx="5251450" cy="1661297"/>
          </a:xfrm>
        </p:spPr>
        <p:txBody>
          <a:bodyPr anchor="ctr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</p:spTree>
    <p:extLst>
      <p:ext uri="{BB962C8B-B14F-4D97-AF65-F5344CB8AC3E}">
        <p14:creationId xmlns:p14="http://schemas.microsoft.com/office/powerpoint/2010/main" val="3545256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A27944-63F0-4B2F-AD45-448C6DF7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DAC0D-26BC-4E19-94BF-7F158080F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63BDE4-1CD0-AC4C-A2A9-C858427B0E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7265051-1E5A-D844-BA21-38331551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519" y="1690117"/>
            <a:ext cx="10989920" cy="44868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715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A91F3-AE43-4DDA-AB24-49CF87963D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1827972"/>
            <a:ext cx="5157787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A648F6-CDB4-4032-9F98-6ED11F980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2342356"/>
            <a:ext cx="5157787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8F648F-0299-4352-914D-9ACEEF6FE5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1827972"/>
            <a:ext cx="5183188" cy="494506"/>
          </a:xfrm>
        </p:spPr>
        <p:txBody>
          <a:bodyPr lIns="0" tIns="0" rIns="0" bIns="0" anchor="ctr"/>
          <a:lstStyle>
            <a:lvl1pPr marL="0" indent="0">
              <a:buNone/>
              <a:defRPr sz="2400" b="0" spc="60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215A19-FA39-4BD0-87C2-8DA3B8C587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2342356"/>
            <a:ext cx="5183188" cy="3684588"/>
          </a:xfrm>
        </p:spPr>
        <p:txBody>
          <a:bodyPr lIns="0" tIns="0" rIns="0" bIns="0">
            <a:normAutofit/>
          </a:bodyPr>
          <a:lstStyle>
            <a:lvl1pPr>
              <a:lnSpc>
                <a:spcPct val="150000"/>
              </a:lnSpc>
              <a:defRPr sz="1600">
                <a:solidFill>
                  <a:schemeClr val="bg1"/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bg1"/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bg1"/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bg1"/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49019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1CCD8B1-7DA9-46E5-8EC4-7B1E0D7E9B20}"/>
              </a:ext>
            </a:extLst>
          </p:cNvPr>
          <p:cNvSpPr/>
          <p:nvPr userDrawn="1"/>
        </p:nvSpPr>
        <p:spPr>
          <a:xfrm>
            <a:off x="6084094" y="1189038"/>
            <a:ext cx="6107906" cy="5668962"/>
          </a:xfrm>
          <a:prstGeom prst="rect">
            <a:avLst/>
          </a:prstGeom>
          <a:gradFill>
            <a:gsLst>
              <a:gs pos="0">
                <a:srgbClr val="01023B">
                  <a:alpha val="80000"/>
                </a:srgbClr>
              </a:gs>
              <a:gs pos="100000">
                <a:srgbClr val="E99757">
                  <a:lumMod val="97000"/>
                  <a:lumOff val="3000"/>
                  <a:alpha val="80000"/>
                </a:srgbClr>
              </a:gs>
              <a:gs pos="50000">
                <a:srgbClr val="A53F52">
                  <a:alpha val="8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1189038"/>
            <a:ext cx="6096000" cy="5668962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0"/>
            <a:ext cx="11002962" cy="1189038"/>
          </a:xfrm>
        </p:spPr>
        <p:txBody>
          <a:bodyPr>
            <a:normAutofit/>
          </a:bodyPr>
          <a:lstStyle>
            <a:lvl1pPr algn="ctr">
              <a:defRPr sz="3600" spc="3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B178DD2-BCD4-4E9E-8EAA-0A3AB74C6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4519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B7D881D-13DE-4377-AA74-0EBFD9C99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5881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294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B8C1683-B5FA-422D-82FD-3E04C0D01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80552"/>
            <a:ext cx="3932237" cy="3388435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64332CC6-AF18-49EE-9933-50E3E93F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801277"/>
            <a:ext cx="6565106" cy="505977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6224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0E18C59-4654-4610-A461-4DAD6B9AA844}"/>
              </a:ext>
            </a:extLst>
          </p:cNvPr>
          <p:cNvSpPr/>
          <p:nvPr userDrawn="1"/>
        </p:nvSpPr>
        <p:spPr>
          <a:xfrm>
            <a:off x="0" y="0"/>
            <a:ext cx="5032374" cy="6858000"/>
          </a:xfrm>
          <a:prstGeom prst="rect">
            <a:avLst/>
          </a:prstGeom>
          <a:solidFill>
            <a:srgbClr val="2F3342"/>
          </a:solidFill>
          <a:ln>
            <a:noFill/>
          </a:ln>
          <a:effectLst>
            <a:innerShdw blurRad="254000" dist="127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E289BF-FC60-4B0A-9338-19DFADB75B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801277"/>
            <a:ext cx="3932238" cy="1583703"/>
          </a:xfrm>
        </p:spPr>
        <p:txBody>
          <a:bodyPr>
            <a:normAutofit/>
          </a:bodyPr>
          <a:lstStyle>
            <a:lvl1pPr algn="l">
              <a:defRPr sz="3600" spc="3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19B710-B005-42F3-BB0B-EDD61A824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57843-7A19-4C1A-A6EB-82840DAE9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Shape 61">
            <a:extLst>
              <a:ext uri="{FF2B5EF4-FFF2-40B4-BE49-F238E27FC236}">
                <a16:creationId xmlns:a16="http://schemas.microsoft.com/office/drawing/2014/main" id="{675B8062-1FC4-4E68-B7AF-45AB92A9F7B4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  <a:sym typeface="Bebas"/>
              </a:rPr>
              <a:t>FABRIKAM</a:t>
            </a:r>
            <a:endParaRPr lang="en-US" sz="2400" b="1" i="0" spc="0" dirty="0">
              <a:solidFill>
                <a:schemeClr val="bg1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3C3E625-3996-4407-8E4D-475EF610D9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84980"/>
            <a:ext cx="3932237" cy="348400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E87E45D5-103F-4407-822F-E7FAE02D6A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801277"/>
            <a:ext cx="6565106" cy="505977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515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B0C003-2795-4473-BA28-C10CB4619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A626D5-ACB5-4E77-B485-5F611FBCF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6448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D712C6-2A37-4F08-AF12-D70F8C80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1330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56FC21-A32D-44DC-BED7-08CEBB3B90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Add a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C6D2B-0FF5-4A5F-A062-480FFA6DA0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B73C415-D670-4716-A5EC-CC4D52CA2BAC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38A396-E30B-644A-8E9F-E9BED5E867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717959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504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797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3849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3447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854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6300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91509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8239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3396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69080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0835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21565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514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0430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85795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18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35781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105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66103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0504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8048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4557C-C8AA-4CE4-861A-318B72FC90E6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82988C-386F-4E78-9984-F4FDEA2826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1023B">
                <a:lumMod val="0"/>
              </a:srgbClr>
            </a:gs>
            <a:gs pos="100000">
              <a:schemeClr val="accent6"/>
            </a:gs>
            <a:gs pos="50000">
              <a:srgbClr val="A53F52">
                <a:alpha val="7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Shape 61">
            <a:extLst>
              <a:ext uri="{FF2B5EF4-FFF2-40B4-BE49-F238E27FC236}">
                <a16:creationId xmlns:a16="http://schemas.microsoft.com/office/drawing/2014/main" id="{0A2ACE11-44E0-44ED-AA10-CB0B57204E89}"/>
              </a:ext>
            </a:extLst>
          </p:cNvPr>
          <p:cNvSpPr/>
          <p:nvPr userDrawn="1"/>
        </p:nvSpPr>
        <p:spPr>
          <a:xfrm>
            <a:off x="10184825" y="6413649"/>
            <a:ext cx="1399614" cy="407804"/>
          </a:xfrm>
          <a:prstGeom prst="rect">
            <a:avLst/>
          </a:prstGeom>
          <a:ln w="3175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9050" tIns="19050" rIns="19050" bIns="19050" anchor="ctr">
            <a:spAutoFit/>
          </a:bodyPr>
          <a:lstStyle/>
          <a:p>
            <a:pPr>
              <a:defRPr sz="3000">
                <a:solidFill>
                  <a:srgbClr val="3A3B39"/>
                </a:solidFill>
                <a:latin typeface="Bebas"/>
                <a:ea typeface="Bebas"/>
                <a:cs typeface="Bebas"/>
                <a:sym typeface="Bebas"/>
              </a:defRPr>
            </a:pPr>
            <a:r>
              <a:rPr lang="en-US" sz="2400" b="1" kern="1200" dirty="0">
                <a:solidFill>
                  <a:srgbClr val="2C2153"/>
                </a:solidFill>
                <a:latin typeface="+mn-lt"/>
                <a:ea typeface="+mn-ea"/>
                <a:cs typeface="+mn-cs"/>
                <a:sym typeface="Bebas"/>
              </a:rPr>
              <a:t>FAB</a:t>
            </a:r>
            <a:r>
              <a:rPr lang="en-US" sz="2400" b="1" kern="1200" dirty="0">
                <a:solidFill>
                  <a:srgbClr val="A53F52"/>
                </a:solidFill>
                <a:latin typeface="+mn-lt"/>
                <a:ea typeface="+mn-ea"/>
                <a:cs typeface="+mn-cs"/>
                <a:sym typeface="Bebas"/>
              </a:rPr>
              <a:t>RIKAM</a:t>
            </a:r>
            <a:endParaRPr lang="en-US" sz="2400" b="1" i="0" spc="0" dirty="0">
              <a:solidFill>
                <a:srgbClr val="A53F52"/>
              </a:solidFill>
              <a:latin typeface="Gill Sans" panose="020B0502020104020203" pitchFamily="34" charset="-79"/>
              <a:cs typeface="Gill Sans" panose="020B05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243895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1023B">
                <a:lumMod val="0"/>
              </a:srgbClr>
            </a:gs>
            <a:gs pos="100000">
              <a:schemeClr val="accent6"/>
            </a:gs>
            <a:gs pos="50000">
              <a:srgbClr val="A53F52">
                <a:alpha val="7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88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01023B">
                <a:lumMod val="0"/>
              </a:srgbClr>
            </a:gs>
            <a:gs pos="100000">
              <a:schemeClr val="accent6"/>
            </a:gs>
            <a:gs pos="50000">
              <a:srgbClr val="A53F52">
                <a:alpha val="70000"/>
              </a:srgbClr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Add a footer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9408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Placeholder 27" descr="Abstract Building">
            <a:extLst>
              <a:ext uri="{FF2B5EF4-FFF2-40B4-BE49-F238E27FC236}">
                <a16:creationId xmlns:a16="http://schemas.microsoft.com/office/drawing/2014/main" id="{CE10ABE1-BE78-4DEC-9C0A-46282D549DF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-83975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388" y="2380629"/>
            <a:ext cx="10787270" cy="830649"/>
          </a:xfrm>
        </p:spPr>
        <p:txBody>
          <a:bodyPr>
            <a:noAutofit/>
          </a:bodyPr>
          <a:lstStyle/>
          <a:p>
            <a:r>
              <a:rPr lang="en-US" sz="3600" b="1" i="1" dirty="0"/>
              <a:t>Real-Time Commodity Percentage Change </a:t>
            </a:r>
            <a:r>
              <a:rPr lang="en-US" sz="3600" b="1" i="1" dirty="0" smtClean="0"/>
              <a:t>Prediction using </a:t>
            </a:r>
            <a:r>
              <a:rPr lang="en-US" sz="3600" b="1" i="1" dirty="0"/>
              <a:t>Web Scraping &amp; Machine Learning</a:t>
            </a:r>
            <a:endParaRPr lang="en-US" sz="3600" b="1" i="1" dirty="0">
              <a:solidFill>
                <a:schemeClr val="bg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15298" y="3625475"/>
            <a:ext cx="5251450" cy="1367176"/>
          </a:xfrm>
        </p:spPr>
        <p:txBody>
          <a:bodyPr>
            <a:normAutofit/>
          </a:bodyPr>
          <a:lstStyle/>
          <a:p>
            <a:r>
              <a:rPr lang="en-US" sz="2800" spc="0" dirty="0" smtClean="0">
                <a:solidFill>
                  <a:schemeClr val="bg1"/>
                </a:solidFill>
              </a:rPr>
              <a:t>Web Scraping Final Project </a:t>
            </a:r>
            <a:endParaRPr lang="en-US" sz="2800" spc="0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 flipH="1">
            <a:off x="7060081" y="4960654"/>
            <a:ext cx="4752474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</a:rPr>
              <a:t>By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Visshnu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Prethi</a:t>
            </a:r>
            <a:r>
              <a:rPr lang="en-US" sz="2800" dirty="0" smtClean="0">
                <a:solidFill>
                  <a:schemeClr val="bg1"/>
                </a:solidFill>
              </a:rPr>
              <a:t> </a:t>
            </a:r>
            <a:r>
              <a:rPr lang="en-US" sz="2800" dirty="0" err="1" smtClean="0">
                <a:solidFill>
                  <a:schemeClr val="bg1"/>
                </a:solidFill>
              </a:rPr>
              <a:t>Manjere</a:t>
            </a:r>
            <a:r>
              <a:rPr lang="en-US" sz="2800" dirty="0" smtClean="0">
                <a:solidFill>
                  <a:schemeClr val="bg1"/>
                </a:solidFill>
              </a:rPr>
              <a:t> Kumar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Master’s in </a:t>
            </a:r>
            <a:r>
              <a:rPr lang="en-US" dirty="0" smtClean="0">
                <a:solidFill>
                  <a:schemeClr val="bg1"/>
                </a:solidFill>
              </a:rPr>
              <a:t>Computer Science  &amp; Data Science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60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9870831" cy="1155944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 smtClean="0">
                <a:cs typeface="Arial" panose="020B0604020202020204" pitchFamily="34" charset="0"/>
              </a:rPr>
              <a:t>PROJECT OVERVIEW</a:t>
            </a:r>
            <a:endParaRPr lang="en-US" sz="4000" b="1" i="1" dirty="0">
              <a:cs typeface="Arial" panose="020B0604020202020204" pitchFamily="34" charset="0"/>
            </a:endParaRPr>
          </a:p>
        </p:txBody>
      </p:sp>
      <p:sp>
        <p:nvSpPr>
          <p:cNvPr id="7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854553"/>
            <a:ext cx="11072262" cy="4293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Courier New" panose="02070309020205020404" pitchFamily="49" charset="0"/>
              <a:buChar char="o"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Scraped data from the page: </a:t>
            </a:r>
            <a:r>
              <a:rPr lang="en-US" altLang="en-US" sz="1800" i="1" dirty="0">
                <a:latin typeface="Arial" panose="020B0604020202020204" pitchFamily="34" charset="0"/>
              </a:rPr>
              <a:t>https://tradingeconomics.com/commodities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Focused on multiple dates 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preprocessed the dataset to remove inconsistencies, missing values, and formatting issues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10+ Key Performance Indicators (KPIs)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such as: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growth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Profit margins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Revenue per employee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share by country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Employee distribution by company size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Created visualizations (scatter plots, bar charts, bubble charts) for better understanding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anose="02070309020205020404" pitchFamily="49" charset="0"/>
              <a:buChar char="o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Designed the project for academic insight into global technology industry trends</a:t>
            </a:r>
          </a:p>
        </p:txBody>
      </p:sp>
    </p:spTree>
    <p:extLst>
      <p:ext uri="{BB962C8B-B14F-4D97-AF65-F5344CB8AC3E}">
        <p14:creationId xmlns:p14="http://schemas.microsoft.com/office/powerpoint/2010/main" val="1068071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 smtClean="0"/>
              <a:t>PROBLEM STATEMENT</a:t>
            </a:r>
            <a:r>
              <a:rPr lang="en-US" sz="4000" dirty="0" smtClean="0"/>
              <a:t/>
            </a:r>
            <a:br>
              <a:rPr lang="en-US" sz="4000" dirty="0" smtClean="0"/>
            </a:br>
            <a:endParaRPr lang="en-US" sz="4000" b="1" i="1" dirty="0">
              <a:cs typeface="Arial" panose="020B0604020202020204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20969" y="1204546"/>
            <a:ext cx="10632831" cy="5486399"/>
          </a:xfrm>
        </p:spPr>
        <p:txBody>
          <a:bodyPr>
            <a:normAutofit fontScale="55000" lnSpcReduction="20000"/>
          </a:bodyPr>
          <a:lstStyle/>
          <a:p>
            <a:r>
              <a:rPr lang="en-US" sz="3200" dirty="0" smtClean="0"/>
              <a:t>Commodity </a:t>
            </a:r>
            <a:r>
              <a:rPr lang="en-US" sz="3200" dirty="0"/>
              <a:t>prices are highly volatile and influenced by global economic factors.</a:t>
            </a:r>
          </a:p>
          <a:p>
            <a:r>
              <a:rPr lang="en-US" sz="3200" dirty="0"/>
              <a:t>Reliable and </a:t>
            </a:r>
            <a:r>
              <a:rPr lang="en-US" sz="3200" b="1" dirty="0"/>
              <a:t>real-time commodity data</a:t>
            </a:r>
            <a:r>
              <a:rPr lang="en-US" sz="3200" dirty="0"/>
              <a:t> is often scattered or paid</a:t>
            </a:r>
            <a:r>
              <a:rPr lang="en-US" sz="3200" dirty="0" smtClean="0"/>
              <a:t>.</a:t>
            </a:r>
          </a:p>
          <a:p>
            <a:r>
              <a:rPr lang="en-US" sz="3200" dirty="0"/>
              <a:t>Predicting raw prices is </a:t>
            </a:r>
            <a:r>
              <a:rPr lang="en-US" sz="3200" dirty="0" smtClean="0"/>
              <a:t>misleading</a:t>
            </a:r>
          </a:p>
          <a:p>
            <a:endParaRPr lang="en-US" sz="3200" dirty="0"/>
          </a:p>
          <a:p>
            <a:pPr marL="0" indent="0" algn="ctr">
              <a:buNone/>
            </a:pPr>
            <a:r>
              <a:rPr lang="en-US" sz="6500" b="1" dirty="0" smtClean="0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PROJECT IDEA</a:t>
            </a:r>
          </a:p>
          <a:p>
            <a:pPr marL="0" indent="0">
              <a:buNone/>
            </a:pPr>
            <a:endParaRPr lang="en-US" sz="3200" dirty="0"/>
          </a:p>
          <a:p>
            <a:r>
              <a:rPr lang="en-US" sz="3200" dirty="0"/>
              <a:t>The goal of this project is to </a:t>
            </a:r>
            <a:r>
              <a:rPr lang="en-US" sz="3200" b="1" dirty="0"/>
              <a:t>analyze and predict percentage price changes (% change) in commodities</a:t>
            </a:r>
            <a:r>
              <a:rPr lang="en-US" sz="3200" dirty="0"/>
              <a:t>.</a:t>
            </a:r>
          </a:p>
          <a:p>
            <a:r>
              <a:rPr lang="en-US" sz="3200" dirty="0"/>
              <a:t>Instead of predicting absolute prices, % change captures </a:t>
            </a:r>
            <a:r>
              <a:rPr lang="en-US" sz="3200" b="1" dirty="0"/>
              <a:t>market volatility and trend direction</a:t>
            </a:r>
            <a:r>
              <a:rPr lang="en-US" sz="3200" dirty="0"/>
              <a:t>.</a:t>
            </a:r>
          </a:p>
          <a:p>
            <a:r>
              <a:rPr lang="en-US" sz="3200" dirty="0"/>
              <a:t>This is more realistic for:</a:t>
            </a:r>
          </a:p>
          <a:p>
            <a:pPr lvl="1"/>
            <a:r>
              <a:rPr lang="en-US" sz="3200" dirty="0"/>
              <a:t>Trading analysis</a:t>
            </a:r>
          </a:p>
          <a:p>
            <a:pPr lvl="1"/>
            <a:r>
              <a:rPr lang="en-US" sz="3200" dirty="0"/>
              <a:t>Risk management</a:t>
            </a:r>
          </a:p>
          <a:p>
            <a:pPr lvl="1"/>
            <a:r>
              <a:rPr lang="en-US" sz="3200" dirty="0"/>
              <a:t>Market trend detection</a:t>
            </a:r>
          </a:p>
          <a:p>
            <a:pPr marL="0" indent="0">
              <a:buNone/>
            </a:pPr>
            <a:r>
              <a:rPr lang="en-US" sz="3200" b="1" dirty="0"/>
              <a:t>Why % Change?</a:t>
            </a:r>
            <a:endParaRPr lang="en-US" sz="3200" dirty="0"/>
          </a:p>
          <a:p>
            <a:r>
              <a:rPr lang="en-US" sz="3200" dirty="0"/>
              <a:t>Normalizes prices across different commodities</a:t>
            </a:r>
          </a:p>
          <a:p>
            <a:r>
              <a:rPr lang="en-US" sz="3200" dirty="0"/>
              <a:t>Reduces scale bias (gold vs wheat vs oil)</a:t>
            </a:r>
          </a:p>
          <a:p>
            <a:r>
              <a:rPr lang="en-US" sz="3200" dirty="0"/>
              <a:t>Better reflects real-world financial </a:t>
            </a:r>
            <a:r>
              <a:rPr lang="en-US" sz="3200" dirty="0" smtClean="0"/>
              <a:t>movement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93568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-14929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316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 smtClean="0"/>
              <a:t>TOOLS &amp; TECHNOLOGIES</a:t>
            </a:r>
            <a:endParaRPr lang="en-US"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/>
              <a:t>Python Libraries: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err="1" smtClean="0"/>
              <a:t>BeautifulSoup</a:t>
            </a:r>
            <a:endParaRPr lang="en-US" sz="2000" dirty="0" smtClean="0"/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/>
              <a:t>Requests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2000" dirty="0" smtClean="0"/>
              <a:t>Pandas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smtClean="0"/>
              <a:t>Database: </a:t>
            </a:r>
            <a:r>
              <a:rPr lang="en-US" sz="2000" dirty="0" err="1" smtClean="0"/>
              <a:t>PostgresSQL</a:t>
            </a:r>
            <a:endParaRPr lang="en-US" sz="2000" dirty="0" smtClean="0"/>
          </a:p>
          <a:p>
            <a:pPr>
              <a:buFont typeface="Courier New" panose="02070309020205020404" pitchFamily="49" charset="0"/>
              <a:buChar char="o"/>
            </a:pPr>
            <a:r>
              <a:rPr lang="en-US" sz="2000" dirty="0" err="1" smtClean="0"/>
              <a:t>PowerBI</a:t>
            </a:r>
            <a:r>
              <a:rPr lang="en-US" sz="2000" dirty="0" smtClean="0"/>
              <a:t> </a:t>
            </a:r>
            <a:endParaRPr 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25625"/>
            <a:ext cx="1602049" cy="15807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653" y="3604846"/>
            <a:ext cx="2857500" cy="16002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403" y="1815916"/>
            <a:ext cx="1935773" cy="159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676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-14929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5482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SOURCE</a:t>
            </a:r>
            <a:endParaRPr lang="en-US" sz="4000" b="1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531" y="1325563"/>
            <a:ext cx="10887269" cy="48514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 smtClean="0"/>
              <a:t>Website Page: </a:t>
            </a:r>
            <a:r>
              <a:rPr lang="en-US" sz="2000" dirty="0" err="1"/>
              <a:t>TradingEconomics</a:t>
            </a:r>
            <a:r>
              <a:rPr lang="en-US" sz="2000" dirty="0"/>
              <a:t> – Commodities </a:t>
            </a:r>
            <a:r>
              <a:rPr lang="en-US" sz="2000" dirty="0" smtClean="0"/>
              <a:t>section https</a:t>
            </a:r>
            <a:r>
              <a:rPr lang="en-US" sz="2000" dirty="0"/>
              <a:t>://</a:t>
            </a:r>
            <a:r>
              <a:rPr lang="en-US" sz="2000" dirty="0" smtClean="0"/>
              <a:t>tradingeconomics.com/commodities</a:t>
            </a:r>
          </a:p>
          <a:p>
            <a:pPr marL="0" indent="0">
              <a:buNone/>
            </a:pPr>
            <a:r>
              <a:rPr lang="en-US" sz="2000" b="1" dirty="0"/>
              <a:t>Why </a:t>
            </a:r>
            <a:r>
              <a:rPr lang="en-US" sz="2000" b="1" dirty="0" err="1"/>
              <a:t>TradingEconomics</a:t>
            </a:r>
            <a:r>
              <a:rPr lang="en-US" sz="2000" b="1" dirty="0"/>
              <a:t>?</a:t>
            </a:r>
            <a:endParaRPr lang="en-US" sz="2000" dirty="0"/>
          </a:p>
          <a:p>
            <a:r>
              <a:rPr lang="en-US" sz="2000" dirty="0"/>
              <a:t>Reliable economic &amp; financial data</a:t>
            </a:r>
          </a:p>
          <a:p>
            <a:r>
              <a:rPr lang="en-US" sz="2000" dirty="0"/>
              <a:t>Frequently updated (near real-time)</a:t>
            </a:r>
          </a:p>
          <a:p>
            <a:r>
              <a:rPr lang="en-US" sz="2000" dirty="0"/>
              <a:t>Covers multiple commodities (Gold, Oil, Copper, etc.)</a:t>
            </a:r>
          </a:p>
          <a:p>
            <a:pPr marL="0" indent="0">
              <a:buNone/>
            </a:pPr>
            <a:r>
              <a:rPr lang="en-US" sz="2000" b="1" dirty="0"/>
              <a:t>Data Collected</a:t>
            </a:r>
            <a:endParaRPr lang="en-US" sz="2000" dirty="0"/>
          </a:p>
          <a:p>
            <a:r>
              <a:rPr lang="en-US" sz="1800" dirty="0"/>
              <a:t>Commodity name</a:t>
            </a:r>
          </a:p>
          <a:p>
            <a:r>
              <a:rPr lang="en-US" sz="1800" dirty="0"/>
              <a:t>Date</a:t>
            </a:r>
          </a:p>
          <a:p>
            <a:r>
              <a:rPr lang="en-US" sz="1800" dirty="0"/>
              <a:t>Price</a:t>
            </a:r>
          </a:p>
          <a:p>
            <a:r>
              <a:rPr lang="en-US" sz="1800" dirty="0"/>
              <a:t>Unit</a:t>
            </a:r>
          </a:p>
          <a:p>
            <a:r>
              <a:rPr lang="en-US" sz="1800" dirty="0" smtClean="0"/>
              <a:t>Currency</a:t>
            </a:r>
          </a:p>
          <a:p>
            <a:r>
              <a:rPr lang="en-US" sz="1800" dirty="0"/>
              <a:t>Percentage </a:t>
            </a:r>
            <a:r>
              <a:rPr lang="en-US" sz="1800" dirty="0" smtClean="0"/>
              <a:t>change</a:t>
            </a:r>
          </a:p>
          <a:p>
            <a:r>
              <a:rPr lang="en-US" sz="1800" dirty="0" smtClean="0"/>
              <a:t>Day Change</a:t>
            </a:r>
          </a:p>
          <a:p>
            <a:r>
              <a:rPr lang="en-US" sz="1800" dirty="0" smtClean="0"/>
              <a:t>YTD/YOY metrics</a:t>
            </a:r>
            <a:endParaRPr lang="en-US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0772" y="3217984"/>
            <a:ext cx="6503028" cy="303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175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+mn-lt"/>
              </a:rPr>
              <a:t>ARCHITECTURE DIAGRAM</a:t>
            </a:r>
            <a:endParaRPr lang="en-US" sz="40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122" y="1324947"/>
            <a:ext cx="11369756" cy="5206482"/>
          </a:xfrm>
        </p:spPr>
      </p:pic>
    </p:spTree>
    <p:extLst>
      <p:ext uri="{BB962C8B-B14F-4D97-AF65-F5344CB8AC3E}">
        <p14:creationId xmlns:p14="http://schemas.microsoft.com/office/powerpoint/2010/main" val="1388162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i="1" dirty="0" smtClean="0">
                <a:solidFill>
                  <a:schemeClr val="bg1"/>
                </a:solidFill>
              </a:rPr>
              <a:t>WEB SCRAPING APPROACH</a:t>
            </a:r>
            <a:endParaRPr lang="en-US" sz="4000" b="1" i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09600" y="1329414"/>
            <a:ext cx="7502813" cy="33424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Send a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GET request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to the Website page.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Parse the HTML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content using 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BeautifulSoup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r>
              <a:rPr lang="en-US" sz="2400" dirty="0" smtClean="0">
                <a:solidFill>
                  <a:schemeClr val="bg1"/>
                </a:solidFill>
              </a:rPr>
              <a:t>Send </a:t>
            </a:r>
            <a:r>
              <a:rPr lang="en-US" sz="2400" dirty="0">
                <a:solidFill>
                  <a:schemeClr val="bg1"/>
                </a:solidFill>
              </a:rPr>
              <a:t>HTTP request to </a:t>
            </a:r>
            <a:r>
              <a:rPr lang="en-US" sz="2400" dirty="0" err="1">
                <a:solidFill>
                  <a:schemeClr val="bg1"/>
                </a:solidFill>
              </a:rPr>
              <a:t>TradingEconomics</a:t>
            </a:r>
            <a:r>
              <a:rPr lang="en-US" sz="2400" dirty="0">
                <a:solidFill>
                  <a:schemeClr val="bg1"/>
                </a:solidFill>
              </a:rPr>
              <a:t> commodity pages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Parse HTML </a:t>
            </a:r>
            <a:r>
              <a:rPr lang="en-US" sz="2400" dirty="0" smtClean="0">
                <a:solidFill>
                  <a:schemeClr val="bg1"/>
                </a:solidFill>
              </a:rPr>
              <a:t>content </a:t>
            </a:r>
            <a:r>
              <a:rPr lang="en-US" altLang="en-US" sz="2400" dirty="0" smtClean="0">
                <a:solidFill>
                  <a:schemeClr val="bg1"/>
                </a:solidFill>
              </a:rPr>
              <a:t>using </a:t>
            </a:r>
            <a:r>
              <a:rPr lang="en-US" altLang="en-US" sz="2400" dirty="0" err="1">
                <a:solidFill>
                  <a:schemeClr val="bg1"/>
                </a:solidFill>
              </a:rPr>
              <a:t>BeautifulSoup</a:t>
            </a:r>
            <a:r>
              <a:rPr lang="en-US" altLang="en-US" sz="2400" dirty="0" smtClean="0">
                <a:solidFill>
                  <a:schemeClr val="bg1"/>
                </a:solidFill>
              </a:rPr>
              <a:t>.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>
                <a:solidFill>
                  <a:schemeClr val="bg1"/>
                </a:solidFill>
              </a:rPr>
              <a:t>Extract relevant fields (price, date, commodity)</a:t>
            </a:r>
          </a:p>
          <a:p>
            <a:r>
              <a:rPr lang="en-US" sz="2400" dirty="0">
                <a:solidFill>
                  <a:schemeClr val="bg1"/>
                </a:solidFill>
              </a:rPr>
              <a:t>Store raw data as CSV / </a:t>
            </a:r>
            <a:r>
              <a:rPr lang="en-US" sz="2400" dirty="0" err="1">
                <a:solidFill>
                  <a:schemeClr val="bg1"/>
                </a:solidFill>
              </a:rPr>
              <a:t>DataFrame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4" y="1608991"/>
            <a:ext cx="4339607" cy="324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922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DATA CLEANING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Removed duplicates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Handled missing values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Fixed inconsistent units (USD, index points, etc.)</a:t>
            </a:r>
          </a:p>
          <a:p>
            <a:r>
              <a:rPr lang="en-US" sz="2000" dirty="0">
                <a:solidFill>
                  <a:schemeClr val="bg1"/>
                </a:solidFill>
              </a:rPr>
              <a:t>Validated numeric columns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Removed invalid rows where % change was not meaningful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important?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Ensures reliable ML predictions</a:t>
            </a:r>
          </a:p>
          <a:p>
            <a:r>
              <a:rPr lang="en-US" sz="2000" dirty="0">
                <a:solidFill>
                  <a:schemeClr val="bg1"/>
                </a:solidFill>
              </a:rPr>
              <a:t>Prevents data leakage and bias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0184" y="1417638"/>
            <a:ext cx="3504744" cy="4020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32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DATA PREPROCESSING &amp; TRANSFORMATION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609600" y="1237910"/>
            <a:ext cx="5608138" cy="46720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Challenges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Different currencies (USD, CNY, MYR, etc.)</a:t>
            </a:r>
          </a:p>
          <a:p>
            <a:r>
              <a:rPr lang="en-US" sz="2000" dirty="0">
                <a:solidFill>
                  <a:schemeClr val="bg1"/>
                </a:solidFill>
              </a:rPr>
              <a:t>Units like USD/T, cents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Missing or inconsistent dates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Transformations Applied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Currency normalization (converted to USD)</a:t>
            </a:r>
          </a:p>
          <a:p>
            <a:r>
              <a:rPr lang="en-US" sz="2000" dirty="0">
                <a:solidFill>
                  <a:schemeClr val="bg1"/>
                </a:solidFill>
              </a:rPr>
              <a:t>Unit standardization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Date formatting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Handling missing values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Feature engineering (lag values, rolling averages)</a:t>
            </a:r>
          </a:p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Final Dataset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Clean, structured, ML-ready dataset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302" y="1237910"/>
            <a:ext cx="5942014" cy="3430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22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7118" y="0"/>
            <a:ext cx="10845282" cy="1259633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DATA STORAGE (POSTGRESQL)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PostgreSQL?</a:t>
            </a:r>
          </a:p>
          <a:p>
            <a:r>
              <a:rPr lang="en-US" sz="2000" dirty="0">
                <a:solidFill>
                  <a:schemeClr val="bg1"/>
                </a:solidFill>
              </a:rPr>
              <a:t>Structured storage</a:t>
            </a:r>
          </a:p>
          <a:p>
            <a:r>
              <a:rPr lang="en-US" sz="2000" dirty="0">
                <a:solidFill>
                  <a:schemeClr val="bg1"/>
                </a:solidFill>
              </a:rPr>
              <a:t>Data integrity</a:t>
            </a:r>
          </a:p>
          <a:p>
            <a:r>
              <a:rPr lang="en-US" sz="2000" dirty="0">
                <a:solidFill>
                  <a:schemeClr val="bg1"/>
                </a:solidFill>
              </a:rPr>
              <a:t>Easy integration with Python &amp; BI tools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Pipeline</a:t>
            </a:r>
          </a:p>
          <a:p>
            <a:r>
              <a:rPr lang="en-US" sz="2000" dirty="0">
                <a:solidFill>
                  <a:schemeClr val="bg1"/>
                </a:solidFill>
              </a:rPr>
              <a:t>Scraped data → PostgreSQL → Analytics &amp; ML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476" y="1362808"/>
            <a:ext cx="5623809" cy="3339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79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639" y="-68262"/>
            <a:ext cx="10972800" cy="1143000"/>
          </a:xfrm>
        </p:spPr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FEATURE ENGINEERING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669712" y="1087040"/>
            <a:ext cx="9140890" cy="539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1400" dirty="0">
              <a:solidFill>
                <a:schemeClr val="bg1"/>
              </a:solidFill>
            </a:endParaRPr>
          </a:p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solidFill>
                  <a:schemeClr val="bg1"/>
                </a:solidFill>
              </a:rPr>
              <a:t>Engineered </a:t>
            </a:r>
            <a:r>
              <a:rPr lang="en-US" altLang="en-US" sz="1400" b="1" dirty="0" smtClean="0">
                <a:solidFill>
                  <a:schemeClr val="bg1"/>
                </a:solidFill>
              </a:rPr>
              <a:t>Features</a:t>
            </a:r>
            <a:endParaRPr lang="en-US" sz="1400" dirty="0" smtClean="0">
              <a:solidFill>
                <a:schemeClr val="bg1"/>
              </a:solidFill>
            </a:endParaRPr>
          </a:p>
          <a:p>
            <a:r>
              <a:rPr lang="en-US" sz="1400" dirty="0" smtClean="0">
                <a:solidFill>
                  <a:schemeClr val="bg1"/>
                </a:solidFill>
              </a:rPr>
              <a:t>New </a:t>
            </a:r>
            <a:r>
              <a:rPr lang="en-US" sz="1400" dirty="0">
                <a:solidFill>
                  <a:schemeClr val="bg1"/>
                </a:solidFill>
              </a:rPr>
              <a:t>features are engineered to capture relative movements and relationships, for example: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`</a:t>
            </a:r>
            <a:r>
              <a:rPr lang="en-US" sz="1400" dirty="0" err="1">
                <a:solidFill>
                  <a:schemeClr val="bg1"/>
                </a:solidFill>
              </a:rPr>
              <a:t>day_change_ratio</a:t>
            </a:r>
            <a:r>
              <a:rPr lang="en-US" sz="1400" dirty="0">
                <a:solidFill>
                  <a:schemeClr val="bg1"/>
                </a:solidFill>
              </a:rPr>
              <a:t>` = `</a:t>
            </a:r>
            <a:r>
              <a:rPr lang="en-US" sz="1400" dirty="0" err="1">
                <a:solidFill>
                  <a:schemeClr val="bg1"/>
                </a:solidFill>
              </a:rPr>
              <a:t>day_change</a:t>
            </a:r>
            <a:r>
              <a:rPr lang="en-US" sz="1400" dirty="0">
                <a:solidFill>
                  <a:schemeClr val="bg1"/>
                </a:solidFill>
              </a:rPr>
              <a:t>` divided by price-related measure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`</a:t>
            </a:r>
            <a:r>
              <a:rPr lang="en-US" sz="1400" dirty="0" err="1">
                <a:solidFill>
                  <a:schemeClr val="bg1"/>
                </a:solidFill>
              </a:rPr>
              <a:t>pct_change_ratio</a:t>
            </a:r>
            <a:r>
              <a:rPr lang="en-US" sz="1400" dirty="0">
                <a:solidFill>
                  <a:schemeClr val="bg1"/>
                </a:solidFill>
              </a:rPr>
              <a:t>` = function of `</a:t>
            </a:r>
            <a:r>
              <a:rPr lang="en-US" sz="1400" dirty="0" err="1">
                <a:solidFill>
                  <a:schemeClr val="bg1"/>
                </a:solidFill>
              </a:rPr>
              <a:t>pct_change</a:t>
            </a:r>
            <a:r>
              <a:rPr lang="en-US" sz="1400" dirty="0">
                <a:solidFill>
                  <a:schemeClr val="bg1"/>
                </a:solidFill>
              </a:rPr>
              <a:t>` relative to another baseline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/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A correlation matrix is computed for:</a:t>
            </a:r>
          </a:p>
          <a:p>
            <a:r>
              <a:rPr lang="en-US" sz="1400" dirty="0" smtClean="0">
                <a:solidFill>
                  <a:schemeClr val="bg1"/>
                </a:solidFill>
              </a:rPr>
              <a:t>`</a:t>
            </a:r>
            <a:r>
              <a:rPr lang="en-US" sz="1400" dirty="0" err="1">
                <a:solidFill>
                  <a:schemeClr val="bg1"/>
                </a:solidFill>
              </a:rPr>
              <a:t>pct_change</a:t>
            </a:r>
            <a:r>
              <a:rPr lang="en-US" sz="1400" dirty="0">
                <a:solidFill>
                  <a:schemeClr val="bg1"/>
                </a:solidFill>
              </a:rPr>
              <a:t>`, `</a:t>
            </a:r>
            <a:r>
              <a:rPr lang="en-US" sz="1400" dirty="0" err="1">
                <a:solidFill>
                  <a:schemeClr val="bg1"/>
                </a:solidFill>
              </a:rPr>
              <a:t>day_change</a:t>
            </a:r>
            <a:r>
              <a:rPr lang="en-US" sz="1400" dirty="0">
                <a:solidFill>
                  <a:schemeClr val="bg1"/>
                </a:solidFill>
              </a:rPr>
              <a:t>`, `</a:t>
            </a:r>
            <a:r>
              <a:rPr lang="en-US" sz="1400" dirty="0" err="1">
                <a:solidFill>
                  <a:schemeClr val="bg1"/>
                </a:solidFill>
              </a:rPr>
              <a:t>day_change_ratio</a:t>
            </a:r>
            <a:r>
              <a:rPr lang="en-US" sz="1400" dirty="0">
                <a:solidFill>
                  <a:schemeClr val="bg1"/>
                </a:solidFill>
              </a:rPr>
              <a:t>`, `</a:t>
            </a:r>
            <a:r>
              <a:rPr lang="en-US" sz="1400" dirty="0" err="1">
                <a:solidFill>
                  <a:schemeClr val="bg1"/>
                </a:solidFill>
              </a:rPr>
              <a:t>pct_change_ratio</a:t>
            </a:r>
            <a:r>
              <a:rPr lang="en-US" sz="1400" dirty="0">
                <a:solidFill>
                  <a:schemeClr val="bg1"/>
                </a:solidFill>
              </a:rPr>
              <a:t>`, `</a:t>
            </a:r>
            <a:r>
              <a:rPr lang="en-US" sz="1400" dirty="0" err="1">
                <a:solidFill>
                  <a:schemeClr val="bg1"/>
                </a:solidFill>
              </a:rPr>
              <a:t>ytd</a:t>
            </a:r>
            <a:r>
              <a:rPr lang="en-US" sz="1400" dirty="0">
                <a:solidFill>
                  <a:schemeClr val="bg1"/>
                </a:solidFill>
              </a:rPr>
              <a:t>`, `</a:t>
            </a:r>
            <a:r>
              <a:rPr lang="en-US" sz="1400" dirty="0" err="1">
                <a:solidFill>
                  <a:schemeClr val="bg1"/>
                </a:solidFill>
              </a:rPr>
              <a:t>yoy</a:t>
            </a:r>
            <a:r>
              <a:rPr lang="en-US" sz="1400" dirty="0">
                <a:solidFill>
                  <a:schemeClr val="bg1"/>
                </a:solidFill>
              </a:rPr>
              <a:t>`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/>
            </a:r>
            <a:br>
              <a:rPr lang="en-US" sz="1400" dirty="0">
                <a:solidFill>
                  <a:schemeClr val="bg1"/>
                </a:solidFill>
              </a:rPr>
            </a:br>
            <a:r>
              <a:rPr lang="en-US" sz="1400" dirty="0">
                <a:solidFill>
                  <a:schemeClr val="bg1"/>
                </a:solidFill>
              </a:rPr>
              <a:t>This reveals relationships such as:</a:t>
            </a:r>
          </a:p>
          <a:p>
            <a:r>
              <a:rPr lang="en-US" sz="1400" dirty="0">
                <a:solidFill>
                  <a:schemeClr val="bg1"/>
                </a:solidFill>
              </a:rPr>
              <a:t>- Strong positive correlation between `</a:t>
            </a:r>
            <a:r>
              <a:rPr lang="en-US" sz="1400" dirty="0" err="1">
                <a:solidFill>
                  <a:schemeClr val="bg1"/>
                </a:solidFill>
              </a:rPr>
              <a:t>ytd</a:t>
            </a:r>
            <a:r>
              <a:rPr lang="en-US" sz="1400" dirty="0">
                <a:solidFill>
                  <a:schemeClr val="bg1"/>
                </a:solidFill>
              </a:rPr>
              <a:t>` and `</a:t>
            </a:r>
            <a:r>
              <a:rPr lang="en-US" sz="1400" dirty="0" err="1">
                <a:solidFill>
                  <a:schemeClr val="bg1"/>
                </a:solidFill>
              </a:rPr>
              <a:t>yoy</a:t>
            </a:r>
            <a:r>
              <a:rPr lang="en-US" sz="1400" dirty="0">
                <a:solidFill>
                  <a:schemeClr val="bg1"/>
                </a:solidFill>
              </a:rPr>
              <a:t>`</a:t>
            </a:r>
          </a:p>
          <a:p>
            <a:r>
              <a:rPr lang="en-US" sz="1400" dirty="0">
                <a:solidFill>
                  <a:schemeClr val="bg1"/>
                </a:solidFill>
              </a:rPr>
              <a:t>- Moderate relationships between change metrics and </a:t>
            </a:r>
            <a:r>
              <a:rPr lang="en-US" sz="1400" dirty="0" smtClean="0">
                <a:solidFill>
                  <a:schemeClr val="bg1"/>
                </a:solidFill>
              </a:rPr>
              <a:t>ratios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14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Time features: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Month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Day of week</a:t>
            </a: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Trend indicator: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 err="1">
                <a:solidFill>
                  <a:schemeClr val="bg1"/>
                </a:solidFill>
              </a:rPr>
              <a:t>i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s_increasing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Target Variable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4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pct_change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698" y="3176374"/>
            <a:ext cx="5878279" cy="253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797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EXPLORATORY DATA ANALYSIS (EDA)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Key Insights</a:t>
            </a:r>
          </a:p>
          <a:p>
            <a:r>
              <a:rPr lang="en-US" sz="2400" dirty="0">
                <a:solidFill>
                  <a:schemeClr val="bg1"/>
                </a:solidFill>
              </a:rPr>
              <a:t>High volatility across commodities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Presence of extreme outliers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Skewed </a:t>
            </a:r>
            <a:r>
              <a:rPr lang="en-US" sz="2400" dirty="0" smtClean="0">
                <a:solidFill>
                  <a:schemeClr val="bg1"/>
                </a:solidFill>
              </a:rPr>
              <a:t>distributions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09600" y="25597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450" y="1315616"/>
            <a:ext cx="4404487" cy="206597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5576" y="3433191"/>
            <a:ext cx="4170783" cy="326861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88537"/>
            <a:ext cx="5035420" cy="2744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416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BUSINESS INTELLIGENCE</a:t>
            </a:r>
            <a:endParaRPr lang="en-US" sz="4000" b="1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09600" y="1586204"/>
            <a:ext cx="5384800" cy="4777274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97600" y="1586204"/>
            <a:ext cx="5384800" cy="4777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553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MACHINE LEARNING MODELS USED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18863"/>
            <a:ext cx="109728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Objective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Predict Percentage Change</a:t>
            </a:r>
            <a:r>
              <a:rPr lang="en-US" sz="2000" dirty="0"/>
              <a:t> </a:t>
            </a:r>
            <a:r>
              <a:rPr lang="en-US" sz="2000" dirty="0" smtClean="0">
                <a:solidFill>
                  <a:schemeClr val="bg1"/>
                </a:solidFill>
              </a:rPr>
              <a:t>based </a:t>
            </a:r>
            <a:r>
              <a:rPr lang="en-US" sz="2000" dirty="0">
                <a:solidFill>
                  <a:schemeClr val="bg1"/>
                </a:solidFill>
              </a:rPr>
              <a:t>on historical data</a:t>
            </a: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Models Implemented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 smtClean="0">
                <a:solidFill>
                  <a:schemeClr val="bg1"/>
                </a:solidFill>
              </a:rPr>
              <a:t>Random forest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Decision Tree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Linear Regression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Neural Network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Support Vector </a:t>
            </a:r>
            <a:r>
              <a:rPr lang="en-US" sz="2000" dirty="0" err="1" smtClean="0">
                <a:solidFill>
                  <a:schemeClr val="bg1"/>
                </a:solidFill>
              </a:rPr>
              <a:t>Regressor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Train-Test Split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80% Training</a:t>
            </a:r>
          </a:p>
          <a:p>
            <a:r>
              <a:rPr lang="en-US" sz="2000" dirty="0">
                <a:solidFill>
                  <a:schemeClr val="bg1"/>
                </a:solidFill>
              </a:rPr>
              <a:t>20% Testing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806" y="1130848"/>
            <a:ext cx="4760463" cy="129582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0246" y="2338753"/>
            <a:ext cx="5123581" cy="4235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63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MODEL EVALUATION METRICS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Regression Metrics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MAE</a:t>
            </a:r>
            <a:r>
              <a:rPr lang="en-US" sz="2000" dirty="0">
                <a:solidFill>
                  <a:schemeClr val="bg1"/>
                </a:solidFill>
              </a:rPr>
              <a:t> – Average absolute prediction error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RMSE</a:t>
            </a:r>
            <a:r>
              <a:rPr lang="en-US" sz="2000" dirty="0">
                <a:solidFill>
                  <a:schemeClr val="bg1"/>
                </a:solidFill>
              </a:rPr>
              <a:t> – Penalizes large errors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R²</a:t>
            </a:r>
            <a:r>
              <a:rPr lang="en-US" sz="2000" dirty="0">
                <a:solidFill>
                  <a:schemeClr val="bg1"/>
                </a:solidFill>
              </a:rPr>
              <a:t> – Variance explained by the </a:t>
            </a:r>
            <a:r>
              <a:rPr lang="en-US" sz="2000" dirty="0" smtClean="0">
                <a:solidFill>
                  <a:schemeClr val="bg1"/>
                </a:solidFill>
              </a:rPr>
              <a:t>model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Why these metrics?</a:t>
            </a:r>
          </a:p>
          <a:p>
            <a:r>
              <a:rPr lang="en-US" sz="2000" dirty="0">
                <a:solidFill>
                  <a:schemeClr val="bg1"/>
                </a:solidFill>
              </a:rPr>
              <a:t>Financial data requires error-sensitive evaluation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1308" y="1310054"/>
            <a:ext cx="5009206" cy="498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8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CLASSIFICATION EXTENSION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Objective</a:t>
            </a:r>
          </a:p>
          <a:p>
            <a:r>
              <a:rPr lang="en-US" sz="2800" dirty="0">
                <a:solidFill>
                  <a:schemeClr val="bg1"/>
                </a:solidFill>
              </a:rPr>
              <a:t>Predict direction of movement: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Increase (1)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Decrease (0</a:t>
            </a:r>
            <a:r>
              <a:rPr lang="en-US" sz="2400" dirty="0" smtClean="0">
                <a:solidFill>
                  <a:schemeClr val="bg1"/>
                </a:solidFill>
              </a:rPr>
              <a:t>)</a:t>
            </a:r>
          </a:p>
          <a:p>
            <a:pPr lvl="1"/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Models Used</a:t>
            </a:r>
          </a:p>
          <a:p>
            <a:r>
              <a:rPr lang="en-US" sz="2800" dirty="0" smtClean="0">
                <a:solidFill>
                  <a:schemeClr val="bg1"/>
                </a:solidFill>
              </a:rPr>
              <a:t>Decision </a:t>
            </a:r>
            <a:r>
              <a:rPr lang="en-US" sz="2800" dirty="0">
                <a:solidFill>
                  <a:schemeClr val="bg1"/>
                </a:solidFill>
              </a:rPr>
              <a:t>Tree</a:t>
            </a:r>
          </a:p>
          <a:p>
            <a:r>
              <a:rPr lang="en-US" sz="2800" dirty="0">
                <a:solidFill>
                  <a:schemeClr val="bg1"/>
                </a:solidFill>
              </a:rPr>
              <a:t>Random Forest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5288" y="1658066"/>
            <a:ext cx="4371174" cy="465066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4346" y="2815557"/>
            <a:ext cx="3206880" cy="331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67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HYPERPARAMETER TUNING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Techniques Used</a:t>
            </a:r>
          </a:p>
          <a:p>
            <a:r>
              <a:rPr lang="en-US" sz="2400" dirty="0" err="1">
                <a:solidFill>
                  <a:schemeClr val="bg1"/>
                </a:solidFill>
              </a:rPr>
              <a:t>GridSearchCV</a:t>
            </a:r>
            <a:endParaRPr lang="en-US" sz="2400" dirty="0">
              <a:solidFill>
                <a:schemeClr val="bg1"/>
              </a:solidFill>
            </a:endParaRPr>
          </a:p>
          <a:p>
            <a:r>
              <a:rPr lang="en-US" sz="2400" dirty="0" smtClean="0">
                <a:solidFill>
                  <a:schemeClr val="bg1"/>
                </a:solidFill>
              </a:rPr>
              <a:t>Cross-validation</a:t>
            </a:r>
          </a:p>
          <a:p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Parameters </a:t>
            </a:r>
            <a:r>
              <a:rPr lang="en-US" sz="2400" b="1" dirty="0">
                <a:solidFill>
                  <a:schemeClr val="bg1"/>
                </a:solidFill>
              </a:rPr>
              <a:t>Tuned</a:t>
            </a:r>
          </a:p>
          <a:p>
            <a:r>
              <a:rPr lang="en-US" sz="2400" dirty="0">
                <a:solidFill>
                  <a:schemeClr val="bg1"/>
                </a:solidFill>
              </a:rPr>
              <a:t>Tree depth</a:t>
            </a:r>
          </a:p>
          <a:p>
            <a:r>
              <a:rPr lang="en-US" sz="2400" dirty="0">
                <a:solidFill>
                  <a:schemeClr val="bg1"/>
                </a:solidFill>
              </a:rPr>
              <a:t>Number of estimators</a:t>
            </a:r>
          </a:p>
          <a:p>
            <a:r>
              <a:rPr lang="en-US" sz="2400" dirty="0">
                <a:solidFill>
                  <a:schemeClr val="bg1"/>
                </a:solidFill>
              </a:rPr>
              <a:t>Learning rates</a:t>
            </a:r>
          </a:p>
          <a:p>
            <a:r>
              <a:rPr lang="en-US" sz="2400" dirty="0">
                <a:solidFill>
                  <a:schemeClr val="bg1"/>
                </a:solidFill>
              </a:rPr>
              <a:t>Regularization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8814" y="1600201"/>
            <a:ext cx="5569025" cy="430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88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008" y="133961"/>
            <a:ext cx="10993315" cy="51667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FINAL RESULTS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475" y="1224208"/>
            <a:ext cx="5179375" cy="1791554"/>
          </a:xfrm>
          <a:prstGeom prst="rect">
            <a:avLst/>
          </a:prstGeom>
        </p:spPr>
      </p:pic>
      <p:sp>
        <p:nvSpPr>
          <p:cNvPr id="7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339383" y="1333618"/>
            <a:ext cx="9859694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Best Model</a:t>
            </a:r>
            <a:endParaRPr lang="en-US" sz="1800" dirty="0">
              <a:solidFill>
                <a:schemeClr val="bg1"/>
              </a:solidFill>
            </a:endParaRPr>
          </a:p>
          <a:p>
            <a:r>
              <a:rPr lang="en-US" sz="1800" dirty="0">
                <a:solidFill>
                  <a:schemeClr val="bg1"/>
                </a:solidFill>
              </a:rPr>
              <a:t>Selected based on lowest RMSE &amp; stable R²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Performance</a:t>
            </a:r>
          </a:p>
          <a:p>
            <a:r>
              <a:rPr lang="en-US" sz="1800" dirty="0">
                <a:solidFill>
                  <a:schemeClr val="bg1"/>
                </a:solidFill>
              </a:rPr>
              <a:t>Improved generalization</a:t>
            </a:r>
          </a:p>
          <a:p>
            <a:r>
              <a:rPr lang="en-US" sz="1800" dirty="0">
                <a:solidFill>
                  <a:schemeClr val="bg1"/>
                </a:solidFill>
              </a:rPr>
              <a:t>Reduced </a:t>
            </a:r>
            <a:r>
              <a:rPr lang="en-US" sz="1800" dirty="0" smtClean="0">
                <a:solidFill>
                  <a:schemeClr val="bg1"/>
                </a:solidFill>
              </a:rPr>
              <a:t>overfitting</a:t>
            </a:r>
          </a:p>
          <a:p>
            <a:pPr marL="0" indent="0">
              <a:buNone/>
            </a:pPr>
            <a:endParaRPr lang="en-US" sz="1800" dirty="0">
              <a:solidFill>
                <a:schemeClr val="bg1"/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Modeling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percentage price change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ensures consistency across currencies, units, and commodities while preserving economic meaning.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Among all tested models, the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neural network achieved the best predictive performance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, both on test data and under cross-validation.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</a:rPr>
              <a:t>Hyperparameter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tuning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further reduced errors and improved explained variance, highlighting the importance of model capacity and regularization.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Feature importance analysis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shows short-term relative change features are the primary drivers, with long-term trends and calendar effects playing a secondary role.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The final 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tuned neural network pipeline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</a:rPr>
              <a:t> is saved and reusable, providing a reproducible and deployment-ready forecasting solution.</a:t>
            </a:r>
          </a:p>
        </p:txBody>
      </p:sp>
    </p:spTree>
    <p:extLst>
      <p:ext uri="{BB962C8B-B14F-4D97-AF65-F5344CB8AC3E}">
        <p14:creationId xmlns:p14="http://schemas.microsoft.com/office/powerpoint/2010/main" val="180519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-149289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49289"/>
            <a:ext cx="11043139" cy="914220"/>
          </a:xfrm>
        </p:spPr>
        <p:txBody>
          <a:bodyPr/>
          <a:lstStyle/>
          <a:p>
            <a:r>
              <a:rPr lang="en-US" sz="4000" b="1" dirty="0" smtClean="0">
                <a:solidFill>
                  <a:schemeClr val="bg1"/>
                </a:solidFill>
              </a:rPr>
              <a:t>CONCLUSION &amp; FUTURE WORK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8824546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Conclusion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PCT_CHANGE </a:t>
            </a:r>
            <a:r>
              <a:rPr lang="en-US" sz="2000" dirty="0">
                <a:solidFill>
                  <a:schemeClr val="bg1"/>
                </a:solidFill>
              </a:rPr>
              <a:t>is more reliable than raw price</a:t>
            </a:r>
          </a:p>
          <a:p>
            <a:r>
              <a:rPr lang="en-US" sz="2000" dirty="0">
                <a:solidFill>
                  <a:schemeClr val="bg1"/>
                </a:solidFill>
              </a:rPr>
              <a:t>End-to-end scalable pipeline built</a:t>
            </a:r>
          </a:p>
          <a:p>
            <a:r>
              <a:rPr lang="en-US" sz="2000" dirty="0">
                <a:solidFill>
                  <a:schemeClr val="bg1"/>
                </a:solidFill>
              </a:rPr>
              <a:t>Strong analytical &amp; predictive </a:t>
            </a:r>
            <a:r>
              <a:rPr lang="en-US" sz="2000" dirty="0" smtClean="0">
                <a:solidFill>
                  <a:schemeClr val="bg1"/>
                </a:solidFill>
              </a:rPr>
              <a:t>insights</a:t>
            </a:r>
          </a:p>
          <a:p>
            <a:r>
              <a:rPr lang="en-US" sz="2000" dirty="0">
                <a:solidFill>
                  <a:schemeClr val="bg1"/>
                </a:solidFill>
              </a:rPr>
              <a:t>Modeled percentage commodity price changes to ensure cross-currency and cross-unit consistency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Built </a:t>
            </a:r>
            <a:r>
              <a:rPr lang="en-US" sz="2000" dirty="0">
                <a:solidFill>
                  <a:schemeClr val="bg1"/>
                </a:solidFill>
              </a:rPr>
              <a:t>an end-to-end automated pipeline from web scraping to PostgreSQL, Power BI, and ML modeling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Engineered </a:t>
            </a:r>
            <a:r>
              <a:rPr lang="en-US" sz="2000" dirty="0">
                <a:solidFill>
                  <a:schemeClr val="bg1"/>
                </a:solidFill>
              </a:rPr>
              <a:t>short-term and temporal features capturing real market dynamics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Selected </a:t>
            </a:r>
            <a:r>
              <a:rPr lang="en-US" sz="2000" dirty="0">
                <a:solidFill>
                  <a:schemeClr val="bg1"/>
                </a:solidFill>
              </a:rPr>
              <a:t>a tuned neural network through cross-validation and robust evaluation</a:t>
            </a:r>
            <a:r>
              <a:rPr lang="en-US" sz="2000" dirty="0" smtClean="0">
                <a:solidFill>
                  <a:schemeClr val="bg1"/>
                </a:solidFill>
              </a:rPr>
              <a:t>.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Delivered </a:t>
            </a:r>
            <a:r>
              <a:rPr lang="en-US" sz="2000" dirty="0">
                <a:solidFill>
                  <a:schemeClr val="bg1"/>
                </a:solidFill>
              </a:rPr>
              <a:t>a reproducible, deployment-ready forecasting system.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b="1" dirty="0" smtClean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b="1" dirty="0" smtClean="0">
                <a:solidFill>
                  <a:schemeClr val="bg1"/>
                </a:solidFill>
              </a:rPr>
              <a:t>Future </a:t>
            </a:r>
            <a:r>
              <a:rPr lang="en-US" sz="2400" b="1" dirty="0">
                <a:solidFill>
                  <a:schemeClr val="bg1"/>
                </a:solidFill>
              </a:rPr>
              <a:t>Work</a:t>
            </a:r>
          </a:p>
          <a:p>
            <a:r>
              <a:rPr lang="en-US" sz="2000" dirty="0">
                <a:solidFill>
                  <a:schemeClr val="bg1"/>
                </a:solidFill>
              </a:rPr>
              <a:t>Time-series models (ARIMA, </a:t>
            </a:r>
            <a:r>
              <a:rPr lang="en-US" sz="2000" dirty="0" smtClean="0">
                <a:solidFill>
                  <a:schemeClr val="bg1"/>
                </a:solidFill>
              </a:rPr>
              <a:t>LSTM)</a:t>
            </a:r>
          </a:p>
          <a:p>
            <a:r>
              <a:rPr lang="en-US" sz="2000" dirty="0" smtClean="0">
                <a:solidFill>
                  <a:schemeClr val="bg1"/>
                </a:solidFill>
              </a:rPr>
              <a:t>Automated </a:t>
            </a:r>
            <a:r>
              <a:rPr lang="en-US" sz="2000" dirty="0">
                <a:solidFill>
                  <a:schemeClr val="bg1"/>
                </a:solidFill>
              </a:rPr>
              <a:t>retraining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3946" y="764931"/>
            <a:ext cx="3697166" cy="2050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308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79F9DAD-F6B0-4ECC-8632-4B5E050986A8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/>
          <p:nvPr/>
        </p:nvSpPr>
        <p:spPr>
          <a:xfrm>
            <a:off x="0" y="-149290"/>
            <a:ext cx="12192000" cy="6858000"/>
          </a:xfrm>
          <a:prstGeom prst="rect">
            <a:avLst/>
          </a:prstGeom>
          <a:gradFill>
            <a:gsLst>
              <a:gs pos="0">
                <a:srgbClr val="01023B">
                  <a:alpha val="70000"/>
                </a:srgbClr>
              </a:gs>
              <a:gs pos="100000">
                <a:srgbClr val="E99757">
                  <a:lumMod val="97000"/>
                  <a:lumOff val="3000"/>
                  <a:alpha val="70000"/>
                </a:srgbClr>
              </a:gs>
              <a:gs pos="50000">
                <a:srgbClr val="A53F52">
                  <a:alpha val="70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44516" y="2641545"/>
            <a:ext cx="57029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 smtClean="0">
                <a:solidFill>
                  <a:schemeClr val="bg1"/>
                </a:solidFill>
                <a:latin typeface="Bell MT" panose="02020503060305020303" pitchFamily="18" charset="0"/>
              </a:rPr>
              <a:t>THANK YOU</a:t>
            </a:r>
            <a:endParaRPr lang="en-US" sz="6000" b="1" dirty="0">
              <a:solidFill>
                <a:schemeClr val="bg1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870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5661986_Tech presentation_RVA_v4" id="{72761486-35C0-4EF3-924E-44BF93C5F925}" vid="{AA80AB01-476F-48C3-B3B7-DC4890A60EFF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3E4F19A7-A959-40BB-972C-4880BAF8EB0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6083</TotalTime>
  <Words>904</Words>
  <Application>Microsoft Office PowerPoint</Application>
  <PresentationFormat>Widescreen</PresentationFormat>
  <Paragraphs>186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Arial</vt:lpstr>
      <vt:lpstr>Bebas</vt:lpstr>
      <vt:lpstr>Bell MT</vt:lpstr>
      <vt:lpstr>Calibri</vt:lpstr>
      <vt:lpstr>Calibri Light</vt:lpstr>
      <vt:lpstr>Courier New</vt:lpstr>
      <vt:lpstr>Gill Sans</vt:lpstr>
      <vt:lpstr>Wingdings</vt:lpstr>
      <vt:lpstr>1_Office Theme</vt:lpstr>
      <vt:lpstr>2_Office Theme</vt:lpstr>
      <vt:lpstr>Office Theme</vt:lpstr>
      <vt:lpstr>Real-Time Commodity Percentage Change Prediction using Web Scraping &amp; Machine Learning</vt:lpstr>
      <vt:lpstr>PROJECT OVERVIEW</vt:lpstr>
      <vt:lpstr>PROBLEM STATEMENT </vt:lpstr>
      <vt:lpstr>TOOLS &amp; TECHNOLOGIES</vt:lpstr>
      <vt:lpstr>DATA SOURCE</vt:lpstr>
      <vt:lpstr>ARCHITECTURE DIAGRAM</vt:lpstr>
      <vt:lpstr>WEB SCRAPING APPROACH</vt:lpstr>
      <vt:lpstr>DATA CLEANING</vt:lpstr>
      <vt:lpstr>DATA PREPROCESSING &amp; TRANSFORMATION</vt:lpstr>
      <vt:lpstr>DATA STORAGE (POSTGRESQL)</vt:lpstr>
      <vt:lpstr>FEATURE ENGINEERING</vt:lpstr>
      <vt:lpstr>EXPLORATORY DATA ANALYSIS (EDA)</vt:lpstr>
      <vt:lpstr>BUSINESS INTELLIGENCE</vt:lpstr>
      <vt:lpstr>MACHINE LEARNING MODELS USED</vt:lpstr>
      <vt:lpstr>MODEL EVALUATION METRICS</vt:lpstr>
      <vt:lpstr>CLASSIFICATION EXTENSION</vt:lpstr>
      <vt:lpstr>HYPERPARAMETER TUNING</vt:lpstr>
      <vt:lpstr>FINAL RESULTS</vt:lpstr>
      <vt:lpstr>CONCLUSION &amp; 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top companies by revenue 2025</dc:title>
  <dc:creator>Preethi</dc:creator>
  <cp:lastModifiedBy>Preethi</cp:lastModifiedBy>
  <cp:revision>43</cp:revision>
  <dcterms:created xsi:type="dcterms:W3CDTF">2025-11-14T22:42:44Z</dcterms:created>
  <dcterms:modified xsi:type="dcterms:W3CDTF">2026-01-10T10:52:15Z</dcterms:modified>
</cp:coreProperties>
</file>